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DONE</c:v>
                </c:pt>
              </c:strCache>
            </c:strRef>
          </c:tx>
          <c:spPr>
            <a:solidFill>
              <a:srgbClr val="3C8C3C"/>
            </a:solidFill>
          </c:spPr>
          <c:cat>
            <c:strRef>
              <c:f>Sheet1!$A$2:$A$6</c:f>
              <c:strCache>
                <c:ptCount val="5"/>
                <c:pt idx="0">
                  <c:v>A. Shell, config,
people, access</c:v>
                </c:pt>
                <c:pt idx="1">
                  <c:v>B. Hierarchy, line
items, BC/PIR</c:v>
                </c:pt>
                <c:pt idx="2">
                  <c:v>C. Views, bulk,
audit, board</c:v>
                </c:pt>
                <c:pt idx="3">
                  <c:v>D. Approvals,
notifications</c:v>
                </c:pt>
                <c:pt idx="4">
                  <c:v>E. PR/PO, actuals,
GSAP, budgets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20</c:v>
                </c:pt>
                <c:pt idx="2">
                  <c:v>17</c:v>
                </c:pt>
                <c:pt idx="3">
                  <c:v>20</c:v>
                </c:pt>
                <c:pt idx="4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</c:v>
                </c:pt>
              </c:strCache>
            </c:strRef>
          </c:tx>
          <c:spPr>
            <a:solidFill>
              <a:srgbClr val="FFC600"/>
            </a:solidFill>
          </c:spPr>
          <c:cat>
            <c:strRef>
              <c:f>Sheet1!$A$2:$A$6</c:f>
              <c:strCache>
                <c:ptCount val="5"/>
                <c:pt idx="0">
                  <c:v>A. Shell, config,
people, access</c:v>
                </c:pt>
                <c:pt idx="1">
                  <c:v>B. Hierarchy, line
items, BC/PIR</c:v>
                </c:pt>
                <c:pt idx="2">
                  <c:v>C. Views, bulk,
audit, board</c:v>
                </c:pt>
                <c:pt idx="3">
                  <c:v>D. Approvals,
notifications</c:v>
                </c:pt>
                <c:pt idx="4">
                  <c:v>E. PR/PO, actuals,
GSAP, budgets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13</c:v>
                </c:pt>
                <c:pt idx="2">
                  <c:v>14</c:v>
                </c:pt>
                <c:pt idx="3">
                  <c:v>16</c:v>
                </c:pt>
                <c:pt idx="4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MISSING</c:v>
                </c:pt>
              </c:strCache>
            </c:strRef>
          </c:tx>
          <c:spPr>
            <a:solidFill>
              <a:srgbClr val="DD1D21"/>
            </a:solidFill>
          </c:spPr>
          <c:cat>
            <c:strRef>
              <c:f>Sheet1!$A$2:$A$6</c:f>
              <c:strCache>
                <c:ptCount val="5"/>
                <c:pt idx="0">
                  <c:v>A. Shell, config,
people, access</c:v>
                </c:pt>
                <c:pt idx="1">
                  <c:v>B. Hierarchy, line
items, BC/PIR</c:v>
                </c:pt>
                <c:pt idx="2">
                  <c:v>C. Views, bulk,
audit, board</c:v>
                </c:pt>
                <c:pt idx="3">
                  <c:v>D. Approvals,
notifications</c:v>
                </c:pt>
                <c:pt idx="4">
                  <c:v>E. PR/PO, actuals,
GSAP, budgets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20</c:v>
                </c:pt>
                <c:pt idx="3">
                  <c:v>11</c:v>
                </c:pt>
                <c:pt idx="4">
                  <c:v>67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DIFFERENT</c:v>
                </c:pt>
              </c:strCache>
            </c:strRef>
          </c:tx>
          <c:spPr>
            <a:solidFill>
              <a:srgbClr val="4A6FB5"/>
            </a:solidFill>
          </c:spPr>
          <c:cat>
            <c:strRef>
              <c:f>Sheet1!$A$2:$A$6</c:f>
              <c:strCache>
                <c:ptCount val="5"/>
                <c:pt idx="0">
                  <c:v>A. Shell, config,
people, access</c:v>
                </c:pt>
                <c:pt idx="1">
                  <c:v>B. Hierarchy, line
items, BC/PIR</c:v>
                </c:pt>
                <c:pt idx="2">
                  <c:v>C. Views, bulk,
audit, board</c:v>
                </c:pt>
                <c:pt idx="3">
                  <c:v>D. Approvals,
notifications</c:v>
                </c:pt>
                <c:pt idx="4">
                  <c:v>E. PR/PO, actuals,
GSAP, budgets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12</c:v>
                </c:pt>
                <c:pt idx="3">
                  <c:v>7</c:v>
                </c:pt>
                <c:pt idx="4">
                  <c:v>14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DEFERRED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Sheet1!$A$2:$A$6</c:f>
              <c:strCache>
                <c:ptCount val="5"/>
                <c:pt idx="0">
                  <c:v>A. Shell, config,
people, access</c:v>
                </c:pt>
                <c:pt idx="1">
                  <c:v>B. Hierarchy, line
items, BC/PIR</c:v>
                </c:pt>
                <c:pt idx="2">
                  <c:v>C. Views, bulk,
audit, board</c:v>
                </c:pt>
                <c:pt idx="3">
                  <c:v>D. Approvals,
notifications</c:v>
                </c:pt>
                <c:pt idx="4">
                  <c:v>E. PR/PO, actuals,
GSAP, budgets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4</c:v>
                </c:pt>
                <c:pt idx="1">
                  <c:v>7</c:v>
                </c:pt>
                <c:pt idx="2">
                  <c:v>10</c:v>
                </c:pt>
                <c:pt idx="3">
                  <c:v>4</c:v>
                </c:pt>
                <c:pt idx="4">
                  <c:v>33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1">
                <a:solidFill>
                  <a:srgbClr val="595959"/>
                </a:solidFill>
                <a:latin typeface="Arial"/>
              </a:rPr>
              <a:t>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679"/>
              </a:spcAft>
            </a:pPr>
            <a:r>
              <a:rPr sz="4800" b="1">
                <a:solidFill>
                  <a:srgbClr val="1F1F1F"/>
                </a:solidFill>
                <a:latin typeface="Arial"/>
              </a:rPr>
              <a:t>MAPP Planning Module and PR/PO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>
                <a:solidFill>
                  <a:srgbClr val="595959"/>
                </a:solidFill>
                <a:latin typeface="Arial"/>
              </a:rPr>
              <a:t>Client target (PRISM SP&amp;A deck, SP&amp;A Campaign workflow, 26 context specs) compared with MAPP as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2011680" cy="73152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27 October 2026</a:t>
            </a:r>
          </a:p>
          <a:p>
            <a:pPr algn="l">
              <a:spcAft>
                <a:spcPts val="489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Scope: Planning module (plan → campaign → initiative → activity → line item) and the PR/PO processes attached to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The 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10835640" cy="1143000"/>
          </a:xfrm>
          <a:prstGeom prst="rect">
            <a:avLst/>
          </a:prstGeom>
          <a:solidFill>
            <a:srgbClr val="FFF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42416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Planning is strong up to "activity approved". The client's SP&amp;A flow beyond that point (SWBS → PR → GSAP PR/PO numbers → invoice approval → SE/GR → top-up) is missing or only partly there, and building it starts with a scope decision.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25"/>
              </a:spcAft>
            </a:pPr>
            <a:r>
              <a:rPr sz="1000">
                <a:solidFill>
                  <a:srgbClr val="FFC600"/>
                </a:solidFill>
                <a:latin typeface="Arial"/>
              </a:rPr>
              <a:t>■  </a:t>
            </a:r>
            <a:r>
              <a:rPr sz="1500" b="1">
                <a:solidFill>
                  <a:srgbClr val="1F1F1F"/>
                </a:solidFill>
                <a:latin typeface="Arial"/>
              </a:rPr>
              <a:t>Built well: </a:t>
            </a:r>
            <a:r>
              <a:rPr sz="1500">
                <a:solidFill>
                  <a:srgbClr val="1F1F1F"/>
                </a:solidFill>
                <a:latin typeface="Arial"/>
              </a:rPr>
              <a:t>hierarchy, budgets flowing down and costs rolling up, line-item spreads, activity approvals (levels, conditions, delegation, escalation), All work views, audit log, recycle bin, read-only GSAP transactions.</a:t>
            </a:r>
          </a:p>
          <a:p>
            <a:pPr>
              <a:spcAft>
                <a:spcPts val="825"/>
              </a:spcAft>
            </a:pPr>
            <a:r>
              <a:rPr sz="1000">
                <a:solidFill>
                  <a:srgbClr val="FFC600"/>
                </a:solidFill>
                <a:latin typeface="Arial"/>
              </a:rPr>
              <a:t>■  </a:t>
            </a:r>
            <a:r>
              <a:rPr sz="1500" b="1">
                <a:solidFill>
                  <a:srgbClr val="1F1F1F"/>
                </a:solidFill>
                <a:latin typeface="Arial"/>
              </a:rPr>
              <a:t>Not built: </a:t>
            </a:r>
            <a:r>
              <a:rPr sz="1500">
                <a:solidFill>
                  <a:srgbClr val="1F1F1F"/>
                </a:solidFill>
                <a:latin typeface="Arial"/>
              </a:rPr>
              <a:t>Purchase Requests (D-243, out of scope), SWBS round trip, budget hard stop and release, Latest Estimate, Business Case and PIR records, bulk actions and import (012).</a:t>
            </a:r>
          </a:p>
          <a:p>
            <a:pPr>
              <a:spcAft>
                <a:spcPts val="825"/>
              </a:spcAft>
            </a:pPr>
            <a:r>
              <a:rPr sz="1000">
                <a:solidFill>
                  <a:srgbClr val="FFC600"/>
                </a:solidFill>
                <a:latin typeface="Arial"/>
              </a:rPr>
              <a:t>■  </a:t>
            </a:r>
            <a:r>
              <a:rPr sz="1500" b="1">
                <a:solidFill>
                  <a:srgbClr val="1F1F1F"/>
                </a:solidFill>
                <a:latin typeface="Arial"/>
              </a:rPr>
              <a:t>Built differently: </a:t>
            </a:r>
            <a:r>
              <a:rPr sz="1500">
                <a:solidFill>
                  <a:srgbClr val="1F1F1F"/>
                </a:solidFill>
                <a:latin typeface="Arial"/>
              </a:rPr>
              <a:t>approvals handle Activities only; one current exchange rate instead of fiscal-year rates; broader re-approval triggers; self-approval off org-wide; admin "on behalf" decisions; the Zero-Based Budgeting values are wrong.</a:t>
            </a:r>
          </a:p>
          <a:p>
            <a:pPr>
              <a:spcAft>
                <a:spcPts val="825"/>
              </a:spcAft>
            </a:pPr>
            <a:r>
              <a:rPr sz="1000">
                <a:solidFill>
                  <a:srgbClr val="FFC600"/>
                </a:solidFill>
                <a:latin typeface="Arial"/>
              </a:rPr>
              <a:t>■  </a:t>
            </a:r>
            <a:r>
              <a:rPr sz="1500" b="1">
                <a:solidFill>
                  <a:srgbClr val="1F1F1F"/>
                </a:solidFill>
                <a:latin typeface="Arial"/>
              </a:rPr>
              <a:t>Next: </a:t>
            </a:r>
            <a:r>
              <a:rPr sz="1500">
                <a:solidFill>
                  <a:srgbClr val="1F1F1F"/>
                </a:solidFill>
                <a:latin typeface="Arial"/>
              </a:rPr>
              <a:t>client answers on ~20 questions → planning rule alignment → engine and finance foundations → PR/PO once it is in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BUILD STATUS VS CLIENT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Two views that both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440680" cy="4937760"/>
          </a:xfrm>
          <a:prstGeom prst="rect">
            <a:avLst/>
          </a:prstGeom>
          <a:solidFill>
            <a:srgbClr val="FFF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Against our own specs: core build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Checked 27 Oct: </a:t>
            </a:r>
            <a:r>
              <a:rPr sz="1300">
                <a:solidFill>
                  <a:srgbClr val="1F1F1F"/>
                </a:solidFill>
                <a:latin typeface="Arial"/>
              </a:rPr>
              <a:t>build clean; 36/36 test packages pass; 1,501 Go tests; 0 TODO/FIXME; 176 API paths; no "Coming soon" sections.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Open: </a:t>
            </a:r>
            <a:r>
              <a:rPr sz="1300">
                <a:solidFill>
                  <a:srgbClr val="1F1F1F"/>
                </a:solidFill>
                <a:latin typeface="Arial"/>
              </a:rPr>
              <a:t>012 bulk and import (11 operations answer 404: build or remove), 016 filters/Breakdown/help tips, 014 role-aware screens (UX gap only, the API refuses), 017 roles from 014 and line manager, 015 delete dialogs.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Not in the note: </a:t>
            </a:r>
            <a:r>
              <a:rPr sz="1300">
                <a:solidFill>
                  <a:srgbClr val="1F1F1F"/>
                </a:solidFill>
                <a:latin typeface="Arial"/>
              </a:rPr>
              <a:t>12 e2e tasks (001, 008, 014–017), 013 SP&amp;A Draft, 019 spec empty.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Estimate: </a:t>
            </a:r>
            <a:r>
              <a:rPr sz="1300">
                <a:solidFill>
                  <a:srgbClr val="1F1F1F"/>
                </a:solidFill>
                <a:latin typeface="Arial"/>
              </a:rPr>
              <a:t>1–2 weeks to UAT, for this finishing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4068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Against the client's target: more to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PR/PO: </a:t>
            </a:r>
            <a:r>
              <a:rPr sz="1300">
                <a:solidFill>
                  <a:srgbClr val="1F1F1F"/>
                </a:solidFill>
                <a:latin typeface="Arial"/>
              </a:rPr>
              <a:t>workflow steps 2–5 and 9 have no support; purchase requests are out of scope today (D-243).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Rules: </a:t>
            </a:r>
            <a:r>
              <a:rPr sz="1300">
                <a:solidFill>
                  <a:srgbClr val="1F1F1F"/>
                </a:solidFill>
                <a:latin typeface="Arial"/>
              </a:rPr>
              <a:t>approvals for Activities only, current-rate FX, re-approval triggers, self-approval, hard stop, Latest Estimate, BC/PIR, ZBB values.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Not in the 1–2 weeks: </a:t>
            </a:r>
            <a:r>
              <a:rPr sz="1300">
                <a:solidFill>
                  <a:srgbClr val="1F1F1F"/>
                </a:solidFill>
                <a:latin typeface="Arial"/>
              </a:rPr>
              <a:t>needs client answers and, for PR/PO, a change of scope.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SCOPE AND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What we analysed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Client material: </a:t>
            </a:r>
            <a:r>
              <a:rPr sz="1400">
                <a:solidFill>
                  <a:srgbClr val="1F1F1F"/>
                </a:solidFill>
                <a:latin typeface="Arial"/>
              </a:rPr>
              <a:t>PRISM SP&amp;A deck (19 slides, incl. the PR flow diagram on slide 11 rebuilt from its vector drawing) and the SP&amp;A Campaign workflow (HD).</a:t>
            </a:r>
          </a:p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Client specs: </a:t>
            </a:r>
            <a:r>
              <a:rPr sz="1400">
                <a:solidFill>
                  <a:srgbClr val="1F1F1F"/>
                </a:solidFill>
                <a:latin typeface="Arial"/>
              </a:rPr>
              <a:t>all 26 read; 16 in scope assessed requirement by requirement.</a:t>
            </a:r>
          </a:p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MAPP: </a:t>
            </a:r>
            <a:r>
              <a:rPr sz="1400">
                <a:solidFill>
                  <a:srgbClr val="1F1F1F"/>
                </a:solidFill>
                <a:latin typeface="Arial"/>
              </a:rPr>
              <a:t>29 feature specs and their open tasks, the decision log, the feature map, the domain model, and the code: backend packages, 176 API paths (234 operations), migrations, seed, frontend features.</a:t>
            </a:r>
          </a:p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Method: </a:t>
            </a:r>
            <a:r>
              <a:rPr sz="1400">
                <a:solidFill>
                  <a:srgbClr val="1F1F1F"/>
                </a:solidFill>
                <a:latin typeface="Arial"/>
              </a:rPr>
              <a:t>5 parallel reviews by area; every status backed by file evidence; key claims spot-checked.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371600"/>
          <a:ext cx="51206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In scope (16)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Out of scope (9)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001 Shell · 002 Config · 003 People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016–020 Measure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004 Hierarchy · 005 Line items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023 AI assistant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006 BCPIR/SP&amp;A · 007 Views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024 Budget optimizer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008 Bulk/import · 009 Approvals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025 Dashboard builder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010 Audit/bin · 012 Actuals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013 Purchase requests · 015 GSAP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011, 014, 021 (planning parts only)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022 Access · 026 Work board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442 items assessed: coverage by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768096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03920" y="1371600"/>
          <a:ext cx="3108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68680"/>
                <a:gridCol w="868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Share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5E1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64008" marR="64008" marT="27432" marB="27432" anchor="ctr">
                    <a:solidFill>
                      <a:srgbClr val="E3F1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03920" y="3931920"/>
            <a:ext cx="32004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Area E counts single requirements; A–D count requirement groups.</a:t>
            </a:r>
          </a:p>
          <a:p>
            <a:pPr algn="l">
              <a:spcAft>
                <a:spcPts val="419"/>
              </a:spcAft>
            </a:pPr>
            <a:r>
              <a:rPr sz="1200" b="0">
                <a:solidFill>
                  <a:srgbClr val="595959"/>
                </a:solidFill>
                <a:latin typeface="Arial"/>
              </a:rPr>
              <a:t>Without client spec 013 (PRs), planning is ~24% done, 28% partial, 19% missing, 17% different, 12% deferred.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TARGET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The client's target: SP&amp;A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pic>
        <p:nvPicPr>
          <p:cNvPr id="8" name="Picture 7" descr="Slide 7 - SP&amp;A Campaign workflow (HD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4320"/>
            <a:ext cx="4183840" cy="6035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32588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7 swimlanes: </a:t>
            </a:r>
            <a:r>
              <a:rPr sz="1400">
                <a:solidFill>
                  <a:srgbClr val="1F1F1F"/>
                </a:solidFill>
                <a:latin typeface="Arial"/>
              </a:rPr>
              <a:t>VP/GM · Marketing Team Lead · Marketer/Vendor · Hive9/GSAP Scheduler · PR Requisitioner (TA/Manila) · PR/GR Approver · Account Payment Team.</a:t>
            </a:r>
          </a:p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Hive9 (green) does: </a:t>
            </a:r>
            <a:r>
              <a:rPr sz="1400">
                <a:solidFill>
                  <a:srgbClr val="1F1F1F"/>
                </a:solidFill>
                <a:latin typeface="Arial"/>
              </a:rPr>
              <a:t>budget → plan → campaign/initiative → activity and line items → approval → SWBS request → PR form → PR approval → invoice approval.</a:t>
            </a:r>
          </a:p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GSAP (yellow) returns by SFTP: </a:t>
            </a:r>
            <a:r>
              <a:rPr sz="1400">
                <a:solidFill>
                  <a:srgbClr val="1F1F1F"/>
                </a:solidFill>
                <a:latin typeface="Arial"/>
              </a:rPr>
              <a:t>SWBS code, PR number, PO number, invoice link, SE/GR number, actuals and payments (24–48 h).</a:t>
            </a:r>
          </a:p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PR types: </a:t>
            </a:r>
            <a:r>
              <a:rPr sz="1400">
                <a:solidFill>
                  <a:srgbClr val="1F1F1F"/>
                </a:solidFill>
                <a:latin typeface="Arial"/>
              </a:rPr>
              <a:t>Standard (vendor and OA known), Manual (CP team adds vendor/OA), FI Payment (own approval).</a:t>
            </a:r>
          </a:p>
          <a:p>
            <a:pPr>
              <a:spcAft>
                <a:spcPts val="770"/>
              </a:spcAft>
            </a:pPr>
            <a:r>
              <a:rPr sz="900">
                <a:solidFill>
                  <a:srgbClr val="FFC600"/>
                </a:solidFill>
                <a:latin typeface="Arial"/>
              </a:rPr>
              <a:t>■  </a:t>
            </a:r>
            <a:r>
              <a:rPr sz="1400" b="1">
                <a:solidFill>
                  <a:srgbClr val="1F1F1F"/>
                </a:solidFill>
                <a:latin typeface="Arial"/>
              </a:rPr>
              <a:t>Modify/top-up: </a:t>
            </a:r>
            <a:r>
              <a:rPr sz="1400">
                <a:solidFill>
                  <a:srgbClr val="1F1F1F"/>
                </a:solidFill>
                <a:latin typeface="Arial"/>
              </a:rPr>
              <a:t>a released PR goes through Hive9 approval again, then a GSAP top-up approval and a modified PO.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TARGET PROCESS VS 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Where MAPP stops in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4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572000"/>
                <a:gridCol w="1234440"/>
                <a:gridCol w="484632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Workflow step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MAPP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Evidence / gap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Budget → plan → campaign → activity and line items → activity approval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E5E1E"/>
                          </a:solidFill>
                          <a:latin typeface="Arial"/>
                        </a:rPr>
                        <a:t>DONE</a:t>
                      </a:r>
                    </a:p>
                  </a:txBody>
                  <a:tcPr marL="64008" marR="64008" marT="27432" marB="27432" anchor="ctr">
                    <a:solidFill>
                      <a:srgbClr val="E3F1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004–008, 017, global budgets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SWBS request to GSAP; code returned (24–48 h)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Flag and derived status only; no file, no stored code (D-255)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Marketer raises PR form (Standard / Manual / FI Payment)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 PR record (D-243, scope)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PR approval workflow in Hive9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Approval engine is activity-only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PR form routed to the requisitioner; Manual and FI branches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E-mail out of scope; no routing record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PR created in GSAP; PR number returned; GSAP approval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 GSAP PR number in the feed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PO approval in GSAP; PO number returned; PO to vendor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PO lines imported as Committed; no PO status, link or PR link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Invoice link to Hive9; marketer approves or rejects; SE/GR returned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Invoices shown; no approval (BUS.FIN.050), no GR/SE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Payment and actuals to Hive9 (daily)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Paid = actuals; manual simulated import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Modify / top up a PR (Released)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 PR; "Released" not a client 013 status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Ten findings that matter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1106424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9144000"/>
                <a:gridCol w="150876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 Purchase Request record: no form, approval, routing or top-up (workflow steps 2–5, 9)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Approval engine only approves Activities: no PR, modified PR, BC, PIR, accrual or budget-increase approval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SWBS round trip is a flag: nothing sent, no code stored, no Sent/Confirmed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One current exchange rate instead of annual planned (and monthly) rates per fiscal year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 budget hard stop or release: finance budget items carry no amounts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 Latest Estimate (LE1–LE4, locked LE); the deck relies on LE vs PO vs actuals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 Business Case or PIR records; our SP&amp;A/BCPIR views (013) are Draft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Zero-Based Budgeting values seeded wrong (Media, Agency… instead of the 7 ZBB categories)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Bulk actions and import (012) designed but not served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Approval rules differ: re-approval triggers, self-approval, admin on-behalf, re-submit from Submitted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AREA A · CLIENT 001, 002, 003, 022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Shell, configuration, people and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4937760"/>
          </a:xfrm>
          <a:prstGeom prst="rect">
            <a:avLst/>
          </a:prstGeom>
          <a:solidFill>
            <a:srgbClr val="FFF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Works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One layout, breadcrumbs, all errors at once, Undo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Teams, person picker, delegation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Access fails closed; scopes; 404 outside scope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Full audit of access changes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43400" y="1280160"/>
          <a:ext cx="73152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1234440"/>
                <a:gridCol w="8686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Prio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Fiscal-year annual and monthly exchange rates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Membership flags Can Approve? / Can Edit Team Content?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Owners from the plan's teams at every level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Assigned-approver lock; self-approval per workflow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Screens hide/explain forbidden actions (014 T043–T051)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Master-data lists with codes (GL, cost centre)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Attribute types: date, currency, decimal, attachment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Calculated/roll-up attributes; approvable groups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Organisation settings page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SSO with MFA (demo sign-in until SSO)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AREA B · CLIENT 004, 005,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Plan hierarchy, line items, BC/PIR and SP&amp;A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4937760"/>
          </a:xfrm>
          <a:prstGeom prst="rect">
            <a:avLst/>
          </a:prstGeom>
          <a:solidFill>
            <a:srgbClr val="FFF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Works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Hierarchy and validation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Budget down, cost up; negative remaining warns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Waterfall goals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Line-item spreads and Sys_Gen_Balance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Copy rules; statuses; audit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43400" y="1280160"/>
          <a:ext cx="73152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1234440"/>
                <a:gridCol w="8686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Prio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SWBS code stored; GSAP status Draft→Sent→Confirmed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PR &amp; PO section; Create PR; cost ≥ PR amount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Hard limit / remaining-budget check (hard stop)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Latest Estimate LE1–LE4 and lock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SP&amp;A view; BC and PIR records with approval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Zero-Based Budgeting cost hierarchy values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Activities may cross years / sit outside initiative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Line-item changes never restart approval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Refuse delete with transactions or PRs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Separate cost and performance splits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AREA C · CLIENT 007, 008, 010, 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Views, bulk and import, audit log, work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4937760"/>
          </a:xfrm>
          <a:prstGeom prst="rect">
            <a:avLst/>
          </a:prstGeom>
          <a:solidFill>
            <a:srgbClr val="FFF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Works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Grid, Budget &amp; cost, Calendar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Roll-ups, column chooser, saved views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Export .xlsx/.csv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Write-once audit; history on every record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Bin: restore with parents, purge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43400" y="1280160"/>
          <a:ext cx="73152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1234440"/>
                <a:gridCol w="8686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Prio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Bulk select, change owner/field, copy, move, delete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Import activities from a template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Inline editing and row actions in the workspace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Audit source, on-behalf, year, operation ID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Calendar drag to reschedule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Filters remembered across sessions and devices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Share saved views with teams or users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Log export; retention (bin 90 d, audit 7 y)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8 summary cards incl. Actual @ FX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Activity Work Board (client: "Proposed")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AREA D · CLIENT 009, 021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Approvals and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4937760"/>
          </a:xfrm>
          <a:prstGeom prst="rect">
            <a:avLst/>
          </a:prstGeom>
          <a:solidFill>
            <a:srgbClr val="FFF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Works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Levels Any/All, conditions, frozen rounds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Auto-approve, recall, 409 on stale action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Delegation, reminders, escalation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Monitoring, history, inbox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In-app approval notifications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43400" y="1280160"/>
          <a:ext cx="73152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1234440"/>
                <a:gridCol w="8686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Prio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Workflow object types PR, Modified PR, Accrual…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Per-workflow: comments, self-approval, currency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Conditions on Country/OU and custom attributes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Re-approval only on planned cost, per model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Bulk-load 100+ workflow definitions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Re-Submit from Submitted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Queue: item type, dates, per-row actions, paging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Per-user notification rules; list page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Planning events (edited, assigned, due date)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Notify submitter as well as owner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AREA E · CLIENT 013, 012, 015, 011/014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Purchase requests, actuals and GSAP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4937760"/>
          </a:xfrm>
          <a:prstGeom prst="rect">
            <a:avLst/>
          </a:prstGeom>
          <a:solidFill>
            <a:srgbClr val="FFF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1F1F1F"/>
                </a:solidFill>
                <a:latin typeface="Arial"/>
              </a:rPr>
              <a:t>Works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Simulated GSAP feed: PO lines, invoices, payments, accruals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Check-then-import, idempotent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Matching: line item → HX → PO → SWBS</a:t>
            </a:r>
          </a:p>
          <a:p>
            <a:pPr>
              <a:spcAft>
                <a:spcPts val="660"/>
              </a:spcAft>
            </a:pPr>
            <a:r>
              <a:rPr sz="700">
                <a:solidFill>
                  <a:srgbClr val="FFC600"/>
                </a:solidFill>
                <a:latin typeface="Arial"/>
              </a:rPr>
              <a:t>■  </a:t>
            </a:r>
            <a:r>
              <a:rPr sz="1200">
                <a:solidFill>
                  <a:srgbClr val="1F1F1F"/>
                </a:solidFill>
                <a:latin typeface="Arial"/>
              </a:rPr>
              <a:t>Committed / Invoiced / Paid at every level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43400" y="1280160"/>
          <a:ext cx="731520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1234440"/>
                <a:gridCol w="8686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Prio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Whole PR lifecycle (013: 50 of 71 FRs missing)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PR reservation and release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Submit gates: activity approved + SWBS present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A3161A"/>
                          </a:solidFill>
                          <a:latin typeface="Arial"/>
                        </a:rPr>
                        <a:t>MISSING</a:t>
                      </a:r>
                    </a:p>
                  </a:txBody>
                  <a:tcPr marL="64008" marR="64008" marT="27432" marB="27432" anchor="ctr">
                    <a:solidFill>
                      <a:srgbClr val="FBE0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Route PR form to requisitioner (no e-mail)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SWBS request file and code return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Inbound PR no., PO status/link, GR/SE, invoice link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Match to PR lines; company-code check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Exception list with Dismiss / Assign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B52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64008" marR="64008" marT="27432" marB="27432" anchor="ctr">
                    <a:solidFill>
                      <a:srgbClr val="FFF1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D1D21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Invoice approval by the marketer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44444"/>
                          </a:solidFill>
                          <a:latin typeface="Arial"/>
                        </a:rPr>
                        <a:t>DEFERRED</a:t>
                      </a:r>
                    </a:p>
                  </a:txBody>
                  <a:tcPr marL="64008" marR="64008" marT="27432" marB="27432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Split a transaction across line items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407A"/>
                          </a:solidFill>
                          <a:latin typeface="Arial"/>
                        </a:rPr>
                        <a:t>DIFFERENT</a:t>
                      </a:r>
                    </a:p>
                  </a:txBody>
                  <a:tcPr marL="64008" marR="64008" marT="27432" marB="27432" anchor="ctr">
                    <a:solidFill>
                      <a:srgbClr val="E4EA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WHAT HAS TO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Business-logic and flow changes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6035040"/>
                <a:gridCol w="3566160"/>
                <a:gridCol w="960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Touches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Approve any record type (subject kind + id; workflow object type)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approval, adapters, routes, inbox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L2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Per-workflow comments, self-approval, threshold currency; on-behalf rule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approval, access rules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Re-approval rule agreed and made a per-model setting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activity, lineitem, settings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L4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Store SWBS code + GSAP status; simulated outbound request; code upload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lineitem, financials, new ADR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Purchase Request record with lines, reservation, approval, modification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new purchaserequest package, UI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L6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GSAP matching to PR lines; PR no., PO status/link, GR/SE, invoice status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financials, CSV layout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Exchange rates by fiscal year (annual planned + monthly)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settings, money, rollup, allwork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L8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Budget hard stop and release; budget-increase approval (empty 019)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settings, budget, lineitem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M–L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WHAT HAS TO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Business-logic and flow changes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6035040"/>
                <a:gridCol w="3566160"/>
                <a:gridCol w="960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Touches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Latest Estimate LE1–LE4, lock per round and year, LE vs PO vs actuals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activity, allwork, financials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L10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Business Case and PIR records with approval, attachments, PPT export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new package(s), file storage ADR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Owners from the plan's teams at every level; team flags if kept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activity, campaign, people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L12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Refuse delete with linked transactions or PRs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delete paths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Relax "activity inside its initiative" for cross-year 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activity dates, rollup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L14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Master data with codes; atomic import updating by code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settings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Audit source/on-behalf/year/operation; export; retention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history, migration, ADR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L16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Notifications as a module with an event catalogue and rules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new notification package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Q1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Quick fixes: ZBB values, re-submit from Submitted, year +10, BCPIR marker, header currency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seed, approval, plan, TopBar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Proposed Purchase Request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566927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7490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PurchaseRequest (PR-1001)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Plan, company code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All lines in one plan; one company code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Standard · Manual · FI Payment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Created → Submitted → In review → Approved / Declined → Closed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Workflows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Approval + modification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Attributes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Vendor, OA, MoA approver, short text, e-mail group…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From GSAP (read-only)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GSAP PR number and date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280160"/>
          <a:ext cx="5120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66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PurchaseRequestLine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Line item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One line per line item per PR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HX key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"HX" + line-item number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Money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Currency, amount, limit, closed amount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From GSAP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1F1F"/>
                          </a:solidFill>
                          <a:latin typeface="Arial"/>
                        </a:rPr>
                        <a:t>PO no., line, status, date, value, link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92240" y="40233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Reserve: </a:t>
            </a:r>
            <a:r>
              <a:rPr sz="1300">
                <a:solidFill>
                  <a:srgbClr val="1F1F1F"/>
                </a:solidFill>
                <a:latin typeface="Arial"/>
              </a:rPr>
              <a:t>sum of live PR lines; planned cost can't drop below it.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Gate: </a:t>
            </a:r>
            <a:r>
              <a:rPr sz="1300">
                <a:solidFill>
                  <a:srgbClr val="1F1F1F"/>
                </a:solidFill>
                <a:latin typeface="Arial"/>
              </a:rPr>
              <a:t>activity Approved and SWBS code received.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Route: </a:t>
            </a:r>
            <a:r>
              <a:rPr sz="1300">
                <a:solidFill>
                  <a:srgbClr val="1F1F1F"/>
                </a:solidFill>
                <a:latin typeface="Arial"/>
              </a:rPr>
              <a:t>in-app record + downloadable PR form (no e-mail).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Access: </a:t>
            </a:r>
            <a:r>
              <a:rPr sz="1300">
                <a:solidFill>
                  <a:srgbClr val="1F1F1F"/>
                </a:solidFill>
                <a:latin typeface="Arial"/>
              </a:rPr>
              <a:t>pr.view, pr.edit, pr.submit, pr.route; Requisitioner role.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BEFORE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Open on our side, and scope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1F1F1F"/>
                </a:solidFill>
                <a:latin typeface="Arial"/>
              </a:rPr>
              <a:t>Open in our own features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557784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Open</a:t>
                      </a:r>
                    </a:p>
                  </a:txBody>
                  <a:tcPr marL="64008" marR="64008" marT="27432" marB="27432" anchor="ctr">
                    <a:solidFill>
                      <a:srgbClr val="2B2B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012 Bulk &amp; import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11 operations answer 404: build or remove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016 Planning ext.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Filters/Breakdown UI; field help; rates route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014 Access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Role-aware screens (UX only); e2e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017 Approval rules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Roles from 014; line-manager field; e2e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015 Financials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Delete dialogs; Home no-access; e2e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e2e tests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12 tasks open across 001, 008, 014–017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013 BCPIR &amp; SP&amp;A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Spec Draft (Q-001); no code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019 Budget increase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  <a:latin typeface="Arial"/>
                        </a:rPr>
                        <a:t>Spec folder is empty</a:t>
                      </a:r>
                    </a:p>
                  </a:txBody>
                  <a:tcPr marL="64008" marR="64008" marT="27432" marB="27432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1">
                <a:solidFill>
                  <a:srgbClr val="1F1F1F"/>
                </a:solidFill>
                <a:latin typeface="Arial"/>
              </a:rPr>
              <a:t>Scope decisions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1. </a:t>
            </a:r>
            <a:r>
              <a:rPr sz="1300">
                <a:solidFill>
                  <a:srgbClr val="1F1F1F"/>
                </a:solidFill>
                <a:latin typeface="Arial"/>
              </a:rPr>
              <a:t>Bring purchase requests into scope (constitution, CLAUDE.md #13, D-243).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2. </a:t>
            </a:r>
            <a:r>
              <a:rPr sz="1300">
                <a:solidFill>
                  <a:srgbClr val="1F1F1F"/>
                </a:solidFill>
                <a:latin typeface="Arial"/>
              </a:rPr>
              <a:t>E-mail: keep excluded (in-app routing + PR form) or allow via an adapter.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3. </a:t>
            </a:r>
            <a:r>
              <a:rPr sz="1300">
                <a:solidFill>
                  <a:srgbClr val="1F1F1F"/>
                </a:solidFill>
                <a:latin typeface="Arial"/>
              </a:rPr>
              <a:t>Outbound files to GSAP (SWBS request): new ADR; reverse D-255.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4. </a:t>
            </a:r>
            <a:r>
              <a:rPr sz="1300">
                <a:solidFill>
                  <a:srgbClr val="1F1F1F"/>
                </a:solidFill>
                <a:latin typeface="Arial"/>
              </a:rPr>
              <a:t>BRD Later items: invoice approval, documents, hard stop.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5. </a:t>
            </a:r>
            <a:r>
              <a:rPr sz="1300">
                <a:solidFill>
                  <a:srgbClr val="1F1F1F"/>
                </a:solidFill>
                <a:latin typeface="Arial"/>
              </a:rPr>
              <a:t>Actuals model: Paid at current rate vs CO postings with annual and monthly FX.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6. </a:t>
            </a:r>
            <a:r>
              <a:rPr sz="1300">
                <a:solidFill>
                  <a:srgbClr val="1F1F1F"/>
                </a:solidFill>
                <a:latin typeface="Arial"/>
              </a:rPr>
              <a:t>Which decision log is authoritative (client D-numbers clash with ours).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Recommended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822960" cy="822960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298448"/>
            <a:ext cx="21945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Finish for UAT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298448"/>
            <a:ext cx="78638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All open tasks incl. 12 e2e tests · decide 012 (build or remove) · ZBB values · re-submit · year +10 · write or remove the 019 spec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167128"/>
            <a:ext cx="10058400" cy="9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67712"/>
            <a:ext cx="822960" cy="822960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6771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86000"/>
            <a:ext cx="21945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Planning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286000"/>
            <a:ext cx="78638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Per-workflow approval settings · re-approval rule · owners and team flags · delete protection · master-data codes · build 012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54680"/>
            <a:ext cx="10058400" cy="9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55264"/>
            <a:ext cx="822960" cy="822960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5526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273552"/>
            <a:ext cx="21945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Foundations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273552"/>
            <a:ext cx="78638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Approve any record type · fiscal-year rates · Latest Estimate · hard stop and release · audit fields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142232"/>
            <a:ext cx="10058400" cy="9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42816"/>
            <a:ext cx="822960" cy="822960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4281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61104"/>
            <a:ext cx="21945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PR/PO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261104"/>
            <a:ext cx="78638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SWBS round trip · Purchase Request · GSAP matching to PR lines · PR list · in-app routing and PR 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129784"/>
            <a:ext cx="10058400" cy="9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230368"/>
            <a:ext cx="822960" cy="822960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230368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1F1F1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48656"/>
            <a:ext cx="21945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94"/>
              </a:spcAft>
            </a:pPr>
            <a:r>
              <a:rPr sz="1700" b="1">
                <a:solidFill>
                  <a:srgbClr val="1F1F1F"/>
                </a:solidFill>
                <a:latin typeface="Arial"/>
              </a:rPr>
              <a:t>BC/PIR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248656"/>
            <a:ext cx="78638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1F1F1F"/>
                </a:solidFill>
                <a:latin typeface="Arial"/>
              </a:rPr>
              <a:t>BC and PIR records · SP&amp;A and BCPIR views · PPT export · notifications module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6117336"/>
            <a:ext cx="10058400" cy="90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FC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84"/>
              </a:spcAft>
            </a:pPr>
            <a:r>
              <a:rPr sz="1100" b="1">
                <a:solidFill>
                  <a:srgbClr val="595959"/>
                </a:solidFill>
                <a:latin typeface="Arial"/>
              </a:rPr>
              <a:t>TO UNBLOCK PHASES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79"/>
              </a:spcAft>
            </a:pPr>
            <a:r>
              <a:rPr sz="2800" b="1">
                <a:solidFill>
                  <a:srgbClr val="1F1F1F"/>
                </a:solidFill>
                <a:latin typeface="Arial"/>
              </a:rPr>
              <a:t>Questions for the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50"/>
              </a:spcAft>
            </a:pPr>
            <a:r>
              <a:rPr sz="1000" b="0">
                <a:solidFill>
                  <a:srgbClr val="595959"/>
                </a:solidFill>
                <a:latin typeface="Arial"/>
              </a:rPr>
              <a:t>MAPP · Planning module &amp; PR/PO gap analysis · 27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PR origin: </a:t>
            </a:r>
            <a:r>
              <a:rPr sz="1300">
                <a:solidFill>
                  <a:srgbClr val="1F1F1F"/>
                </a:solidFill>
                <a:latin typeface="Arial"/>
              </a:rPr>
              <a:t>raised in MAPP and sent to GSAP, or raised in GSAP and shown?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"Released": </a:t>
            </a:r>
            <a:r>
              <a:rPr sz="1300">
                <a:solidFill>
                  <a:srgbClr val="1F1F1F"/>
                </a:solidFill>
                <a:latin typeface="Arial"/>
              </a:rPr>
              <a:t>what is it in the PR status model?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PR types: </a:t>
            </a:r>
            <a:r>
              <a:rPr sz="1300">
                <a:solidFill>
                  <a:srgbClr val="1F1F1F"/>
                </a:solidFill>
                <a:latin typeface="Arial"/>
              </a:rPr>
              <a:t>do Manual and FI Payment change MAPP behaviour?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Reservation: </a:t>
            </a:r>
            <a:r>
              <a:rPr sz="1300">
                <a:solidFill>
                  <a:srgbClr val="1F1F1F"/>
                </a:solidFill>
                <a:latin typeface="Arial"/>
              </a:rPr>
              <a:t>committed spend, or inside planned cost?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Routing: </a:t>
            </a:r>
            <a:r>
              <a:rPr sz="1300">
                <a:solidFill>
                  <a:srgbClr val="1F1F1F"/>
                </a:solidFill>
                <a:latin typeface="Arial"/>
              </a:rPr>
              <a:t>in-app + PR form acceptable without e-mail?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SWBS: </a:t>
            </a:r>
            <a:r>
              <a:rPr sz="1300">
                <a:solidFill>
                  <a:srgbClr val="1F1F1F"/>
                </a:solidFill>
                <a:latin typeface="Arial"/>
              </a:rPr>
              <a:t>per line item or activity; automatic on approval; SLA misses?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Layouts: </a:t>
            </a:r>
            <a:r>
              <a:rPr sz="1300">
                <a:solidFill>
                  <a:srgbClr val="1F1F1F"/>
                </a:solidFill>
                <a:latin typeface="Arial"/>
              </a:rPr>
              <a:t>FSSI 1523 / PGSI 941 files during the freeze?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Rates: </a:t>
            </a:r>
            <a:r>
              <a:rPr sz="1300">
                <a:solidFill>
                  <a:srgbClr val="1F1F1F"/>
                </a:solidFill>
                <a:latin typeface="Arial"/>
              </a:rPr>
              <a:t>annual planned rate per fiscal year, or latest rate?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Re-approval: </a:t>
            </a:r>
            <a:r>
              <a:rPr sz="1300">
                <a:solidFill>
                  <a:srgbClr val="1F1F1F"/>
                </a:solidFill>
                <a:latin typeface="Arial"/>
              </a:rPr>
              <a:t>planned cost only, per model?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Self-approval / on-behalf: </a:t>
            </a:r>
            <a:r>
              <a:rPr sz="1300">
                <a:solidFill>
                  <a:srgbClr val="1F1F1F"/>
                </a:solidFill>
                <a:latin typeface="Arial"/>
              </a:rPr>
              <a:t>per workflow? admin may decide?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Hard stop: </a:t>
            </a:r>
            <a:r>
              <a:rPr sz="1300">
                <a:solidFill>
                  <a:srgbClr val="1F1F1F"/>
                </a:solidFill>
                <a:latin typeface="Arial"/>
              </a:rPr>
              <a:t>which level; block or warn; who releases?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Latest Estimate: </a:t>
            </a:r>
            <a:r>
              <a:rPr sz="1300">
                <a:solidFill>
                  <a:srgbClr val="1F1F1F"/>
                </a:solidFill>
                <a:latin typeface="Arial"/>
              </a:rPr>
              <a:t>who locks; level; currency?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BC/PIR: </a:t>
            </a:r>
            <a:r>
              <a:rPr sz="1300">
                <a:solidFill>
                  <a:srgbClr val="1F1F1F"/>
                </a:solidFill>
                <a:latin typeface="Arial"/>
              </a:rPr>
              <a:t>records with approval and attachments? PPT content?</a:t>
            </a:r>
          </a:p>
          <a:p>
            <a:pPr>
              <a:spcAft>
                <a:spcPts val="715"/>
              </a:spcAft>
            </a:pPr>
            <a:r>
              <a:rPr sz="800">
                <a:solidFill>
                  <a:srgbClr val="FFC600"/>
                </a:solidFill>
                <a:latin typeface="Arial"/>
              </a:rPr>
              <a:t>■  </a:t>
            </a:r>
            <a:r>
              <a:rPr sz="1300" b="1">
                <a:solidFill>
                  <a:srgbClr val="1F1F1F"/>
                </a:solidFill>
                <a:latin typeface="Arial"/>
              </a:rPr>
              <a:t>ZBB: </a:t>
            </a:r>
            <a:r>
              <a:rPr sz="1300">
                <a:solidFill>
                  <a:srgbClr val="1F1F1F"/>
                </a:solidFill>
                <a:latin typeface="Arial"/>
              </a:rPr>
              <a:t>confirm the 7 values, level, BU limits.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